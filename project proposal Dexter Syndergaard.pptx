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64" r:id="rId7"/>
    <p:sldId id="293" r:id="rId8"/>
    <p:sldId id="294" r:id="rId9"/>
    <p:sldId id="295" r:id="rId10"/>
    <p:sldId id="297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>
        <p:scale>
          <a:sx n="47" d="100"/>
          <a:sy n="47" d="100"/>
        </p:scale>
        <p:origin x="101" y="970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 err="1"/>
              <a:t>Comparision</a:t>
            </a:r>
            <a:r>
              <a:rPr lang="en-US" dirty="0"/>
              <a:t> of Zero shot and complete MT </a:t>
            </a:r>
            <a:r>
              <a:rPr lang="en-US" dirty="0" err="1"/>
              <a:t>modles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Investigation topic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the difference between the Bleu and Comet scores of zero-shot machine translation between a complete MT model in English, Spanish, Portuguese, and Papiamento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effective strategies in zero-shot neural machine translation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Thanh-Le Ha, Jan Niehues, Alexander Waibel</a:t>
            </a:r>
            <a:endParaRPr lang="en-US" i="1" dirty="0"/>
          </a:p>
          <a:p>
            <a:r>
              <a:rPr lang="en-US" i="1" dirty="0"/>
              <a:t>[</a:t>
            </a:r>
            <a:r>
              <a:rPr lang="en-US" i="1" dirty="0" err="1"/>
              <a:t>PDF</a:t>
            </a:r>
            <a:r>
              <a:rPr lang="en-US" dirty="0" err="1"/>
              <a:t>Semantic</a:t>
            </a:r>
            <a:r>
              <a:rPr lang="en-US" dirty="0"/>
              <a:t> Scholar. (n.d.).] https://www.semanticscholar.org/reader/bc4a8e412aaabc5dbb8e4bc534870226abbf239f </a:t>
            </a:r>
            <a:endParaRPr lang="en-US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5643-99E1-56D4-C913-BE8385E4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anchor="b">
            <a:normAutofit fontScale="90000"/>
          </a:bodyPr>
          <a:lstStyle/>
          <a:p>
            <a:r>
              <a:rPr lang="en-US" sz="4000" dirty="0"/>
              <a:t>Improving Massively Multilingual Neural Machine Translation and Zero-Shot Translation</a:t>
            </a:r>
            <a:endParaRPr lang="en-US" sz="41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A6236-7ED0-0604-F14A-3AAEF41A99F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Biao Zhang, Philip Williams, Ivan Titov, Rico </a:t>
            </a:r>
            <a:r>
              <a:rPr lang="en-US" sz="2000" dirty="0" err="1"/>
              <a:t>Sennrich</a:t>
            </a:r>
            <a:r>
              <a:rPr lang="en-US" sz="2000" dirty="0"/>
              <a:t> </a:t>
            </a:r>
            <a:r>
              <a:rPr lang="en-US" sz="2200" dirty="0"/>
              <a:t>(2020, April 24). </a:t>
            </a:r>
            <a:r>
              <a:rPr lang="en-US" sz="2200" i="1" dirty="0"/>
              <a:t>M$^2$PT: </a:t>
            </a:r>
            <a:r>
              <a:rPr lang="en-US" sz="2200" dirty="0"/>
              <a:t>https://arxiv.org/pdf/2004.11867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FD988A-2C36-CADA-DE3F-B7579715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D841-84D4-33DF-806D-4AA851F5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30984" cy="1988706"/>
          </a:xfrm>
        </p:spPr>
        <p:txBody>
          <a:bodyPr>
            <a:normAutofit fontScale="90000"/>
          </a:bodyPr>
          <a:lstStyle/>
          <a:p>
            <a:r>
              <a:rPr lang="en-US" dirty="0"/>
              <a:t>"The Impact of Translating Resource-Rich Datasets to Low-Resource Languages Through Multi-Lingual Text Processing,"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602E2-61C9-CD0C-3C38-BE8DB3BD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BA4E-0502-004D-9CE8-16E229E66F34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A. Ghafoor et al., in IEEE Access, vol. 9, pp. 124478-124490, 2021, </a:t>
            </a:r>
            <a:r>
              <a:rPr lang="en-US" dirty="0" err="1"/>
              <a:t>doi</a:t>
            </a:r>
            <a:r>
              <a:rPr lang="en-US" dirty="0"/>
              <a:t>: 10.1109/ACCESS.2021.3110285.</a:t>
            </a:r>
          </a:p>
          <a:p>
            <a:r>
              <a:rPr lang="en-US" dirty="0"/>
              <a:t>keywords: {Sentiment </a:t>
            </a:r>
            <a:r>
              <a:rPr lang="en-US" dirty="0" err="1"/>
              <a:t>analysis;Internet;Machine</a:t>
            </a:r>
            <a:r>
              <a:rPr lang="en-US" dirty="0"/>
              <a:t> </a:t>
            </a:r>
            <a:r>
              <a:rPr lang="en-US" dirty="0" err="1"/>
              <a:t>translation;Analytical</a:t>
            </a:r>
            <a:r>
              <a:rPr lang="en-US" dirty="0"/>
              <a:t> </a:t>
            </a:r>
            <a:r>
              <a:rPr lang="en-US" dirty="0" err="1"/>
              <a:t>models;Data</a:t>
            </a:r>
            <a:r>
              <a:rPr lang="en-US" dirty="0"/>
              <a:t> </a:t>
            </a:r>
            <a:r>
              <a:rPr lang="en-US" dirty="0" err="1"/>
              <a:t>models;Text</a:t>
            </a:r>
            <a:r>
              <a:rPr lang="en-US" dirty="0"/>
              <a:t> </a:t>
            </a:r>
            <a:r>
              <a:rPr lang="en-US" dirty="0" err="1"/>
              <a:t>processing;Task</a:t>
            </a:r>
            <a:r>
              <a:rPr lang="en-US" dirty="0"/>
              <a:t> </a:t>
            </a:r>
            <a:r>
              <a:rPr lang="en-US" dirty="0" err="1"/>
              <a:t>analysis;Multilingual</a:t>
            </a:r>
            <a:r>
              <a:rPr lang="en-US" dirty="0"/>
              <a:t> text </a:t>
            </a:r>
            <a:r>
              <a:rPr lang="en-US" dirty="0" err="1"/>
              <a:t>processing;sentiment</a:t>
            </a:r>
            <a:r>
              <a:rPr lang="en-US" dirty="0"/>
              <a:t> </a:t>
            </a:r>
            <a:r>
              <a:rPr lang="en-US" dirty="0" err="1"/>
              <a:t>classification;polarity</a:t>
            </a:r>
            <a:r>
              <a:rPr lang="en-US" dirty="0"/>
              <a:t> </a:t>
            </a:r>
            <a:r>
              <a:rPr lang="en-US" dirty="0" err="1"/>
              <a:t>assessment;low</a:t>
            </a:r>
            <a:r>
              <a:rPr lang="en-US" dirty="0"/>
              <a:t> resource </a:t>
            </a:r>
            <a:r>
              <a:rPr lang="en-US" dirty="0" err="1"/>
              <a:t>language;language</a:t>
            </a:r>
            <a:r>
              <a:rPr lang="en-US" dirty="0"/>
              <a:t> translation;BiLSTM;Conv1D;English;Urdu;German;Hindi},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068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291404-B235-607C-FD44-84D2E6A1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/>
          <a:lstStyle/>
          <a:p>
            <a:r>
              <a:rPr lang="en-US" dirty="0"/>
              <a:t>Corpora involved and code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18FE83F-612C-D23F-2683-4533EB7B7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/>
          <a:lstStyle/>
          <a:p>
            <a:r>
              <a:rPr lang="en-US" dirty="0"/>
              <a:t>English to Spanish 1.4 million lines</a:t>
            </a:r>
          </a:p>
          <a:p>
            <a:r>
              <a:rPr lang="en-US" dirty="0"/>
              <a:t>English to Portuguese</a:t>
            </a:r>
          </a:p>
          <a:p>
            <a:r>
              <a:rPr lang="en-US" dirty="0"/>
              <a:t>English to Papiamento</a:t>
            </a:r>
          </a:p>
          <a:p>
            <a:r>
              <a:rPr lang="en-US" dirty="0"/>
              <a:t>Create Spanish to Papiamento and Portuguese to Papiamento and Spanish to Portuguese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E8D5DB-404A-EF41-5D13-A66C7A34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66A6D-8E81-B7A0-D86F-06379DA0442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Create five models. English to all zero-shot models, a Complete model between all four languages, a </a:t>
            </a:r>
            <a:r>
              <a:rPr lang="en-US" dirty="0" err="1"/>
              <a:t>por</a:t>
            </a:r>
            <a:r>
              <a:rPr lang="en-US" dirty="0"/>
              <a:t>-pap model, an es-to-</a:t>
            </a:r>
            <a:r>
              <a:rPr lang="en-US" dirty="0" err="1"/>
              <a:t>por</a:t>
            </a:r>
            <a:r>
              <a:rPr lang="en-US" dirty="0"/>
              <a:t> model, and an es–pap model</a:t>
            </a:r>
          </a:p>
          <a:p>
            <a:r>
              <a:rPr lang="en-US" dirty="0"/>
              <a:t>Use of Sentence piece</a:t>
            </a:r>
          </a:p>
          <a:p>
            <a:r>
              <a:rPr lang="en-US" dirty="0"/>
              <a:t>Refine the framework to get test, training, and validation Sets for each of the language pairs</a:t>
            </a:r>
          </a:p>
        </p:txBody>
      </p:sp>
    </p:spTree>
    <p:extLst>
      <p:ext uri="{BB962C8B-B14F-4D97-AF65-F5344CB8AC3E}">
        <p14:creationId xmlns:p14="http://schemas.microsoft.com/office/powerpoint/2010/main" val="371675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B5E2-5F25-D790-C387-D14AF006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 anchor="b">
            <a:normAutofit/>
          </a:bodyPr>
          <a:lstStyle/>
          <a:p>
            <a:r>
              <a:rPr lang="en-US" dirty="0"/>
              <a:t>Types of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007F2-FA6D-6DFC-FF83-9162000A3EF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2" y="3299953"/>
            <a:ext cx="6338888" cy="2668463"/>
          </a:xfrm>
        </p:spPr>
        <p:txBody>
          <a:bodyPr>
            <a:normAutofit fontScale="92500"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For human evaluation, the eval counting tool will be used for the Spanish to Portuguese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Bleu and Comet to compare all of the models against each other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4FA56-8BE8-3F29-EB1A-C19EA885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EEB4-B892-4D19-4B60-F5D16B7E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8276D-4E32-DD30-319C-17DB5A026315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Zero-shot model will perform within 3 BLEU points of the complete model. In all languages. It would contribute by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78F04-97FA-4580-1075-CF687FE8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535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{32F34D6F-4AAB-4A04-95F4-50009F7DF4FA}TF55c86556-70ea-476e-aa05-13a38f2d5b0da1381d77_win32-a3c664429073</Template>
  <TotalTime>4575</TotalTime>
  <Words>358</Words>
  <Application>Microsoft Office PowerPoint</Application>
  <PresentationFormat>Widescreen</PresentationFormat>
  <Paragraphs>35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Custom</vt:lpstr>
      <vt:lpstr>Comparision of Zero shot and complete MT modles</vt:lpstr>
      <vt:lpstr>Investigation topic</vt:lpstr>
      <vt:lpstr>effective strategies in zero-shot neural machine translation.</vt:lpstr>
      <vt:lpstr>Improving Massively Multilingual Neural Machine Translation and Zero-Shot Translation</vt:lpstr>
      <vt:lpstr>"The Impact of Translating Resource-Rich Datasets to Low-Resource Languages Through Multi-Lingual Text Processing," </vt:lpstr>
      <vt:lpstr>Corpora involved and code</vt:lpstr>
      <vt:lpstr>Types of evaluation</vt:lpstr>
      <vt:lpstr>Expected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Dexter Syndergaard</dc:creator>
  <cp:lastModifiedBy>Dexter Syndergaard</cp:lastModifiedBy>
  <cp:revision>3</cp:revision>
  <dcterms:created xsi:type="dcterms:W3CDTF">2025-11-05T17:18:07Z</dcterms:created>
  <dcterms:modified xsi:type="dcterms:W3CDTF">2025-11-10T17:18:12Z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